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410" r:id="rId3"/>
    <p:sldId id="383" r:id="rId5"/>
    <p:sldId id="389" r:id="rId6"/>
    <p:sldId id="391" r:id="rId7"/>
    <p:sldId id="411" r:id="rId8"/>
    <p:sldId id="408" r:id="rId9"/>
    <p:sldId id="415" r:id="rId10"/>
    <p:sldId id="407" r:id="rId11"/>
    <p:sldId id="412" r:id="rId12"/>
    <p:sldId id="414" r:id="rId13"/>
    <p:sldId id="416" r:id="rId14"/>
    <p:sldId id="413" r:id="rId15"/>
    <p:sldId id="406" r:id="rId16"/>
    <p:sldId id="404" r:id="rId17"/>
    <p:sldId id="403" r:id="rId18"/>
    <p:sldId id="3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A107856-5554-42FB-B03E-39F5DBC370B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microsoft.com/office/2018/10/relationships/authors" Target="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210" indent="-283210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210">
              <a:spcBef>
                <a:spcPts val="600"/>
              </a:spcBef>
              <a:defRPr sz="2000"/>
            </a:lvl2pPr>
            <a:lvl3pPr indent="-283210">
              <a:spcBef>
                <a:spcPts val="1800"/>
              </a:spcBef>
              <a:defRPr sz="2000"/>
            </a:lvl3pPr>
            <a:lvl4pPr indent="-283210">
              <a:spcBef>
                <a:spcPts val="1800"/>
              </a:spcBef>
              <a:defRPr sz="2000"/>
            </a:lvl4pPr>
            <a:lvl5pPr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210" indent="-28321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210">
              <a:spcBef>
                <a:spcPts val="1800"/>
              </a:spcBef>
              <a:defRPr sz="2000"/>
            </a:lvl2pPr>
            <a:lvl3pPr indent="-283210">
              <a:spcBef>
                <a:spcPts val="1800"/>
              </a:spcBef>
              <a:defRPr sz="2000"/>
            </a:lvl3pPr>
            <a:lvl4pPr indent="-283210">
              <a:spcBef>
                <a:spcPts val="1800"/>
              </a:spcBef>
              <a:defRPr sz="2000"/>
            </a:lvl4pPr>
            <a:lvl5pPr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210" indent="-283210">
              <a:spcBef>
                <a:spcPts val="1800"/>
              </a:spcBef>
              <a:defRPr sz="2000"/>
            </a:lvl2pPr>
            <a:lvl3pPr marL="594360" indent="-283210">
              <a:spcBef>
                <a:spcPts val="1800"/>
              </a:spcBef>
              <a:defRPr sz="2000"/>
            </a:lvl3pPr>
            <a:lvl4pPr marL="822960" indent="-283210">
              <a:spcBef>
                <a:spcPts val="1800"/>
              </a:spcBef>
              <a:defRPr sz="2000"/>
            </a:lvl4pPr>
            <a:lvl5pPr marL="1005840"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210" indent="-283210">
              <a:spcBef>
                <a:spcPts val="1800"/>
              </a:spcBef>
              <a:defRPr sz="2000"/>
            </a:lvl2pPr>
            <a:lvl3pPr marL="548640" indent="-283210">
              <a:spcBef>
                <a:spcPts val="1800"/>
              </a:spcBef>
              <a:defRPr sz="2000"/>
            </a:lvl3pPr>
            <a:lvl4pPr marL="822960" indent="-283210">
              <a:spcBef>
                <a:spcPts val="1800"/>
              </a:spcBef>
              <a:defRPr sz="2000"/>
            </a:lvl4pPr>
            <a:lvl5pPr marL="1005840"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210" indent="-283210">
              <a:spcBef>
                <a:spcPts val="1800"/>
              </a:spcBef>
              <a:defRPr sz="2000"/>
            </a:lvl2pPr>
            <a:lvl3pPr marL="548640" indent="-283210">
              <a:spcBef>
                <a:spcPts val="1800"/>
              </a:spcBef>
              <a:defRPr sz="2000"/>
            </a:lvl3pPr>
            <a:lvl4pPr marL="822960" indent="-283210">
              <a:spcBef>
                <a:spcPts val="1800"/>
              </a:spcBef>
              <a:defRPr sz="2000"/>
            </a:lvl4pPr>
            <a:lvl5pPr marL="1005840"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210">
              <a:spcBef>
                <a:spcPts val="1800"/>
              </a:spcBef>
              <a:defRPr sz="2000"/>
            </a:lvl2pPr>
            <a:lvl3pPr indent="-283210">
              <a:spcBef>
                <a:spcPts val="1800"/>
              </a:spcBef>
              <a:defRPr sz="2000"/>
            </a:lvl3pPr>
            <a:lvl4pPr indent="-283210">
              <a:spcBef>
                <a:spcPts val="1800"/>
              </a:spcBef>
              <a:defRPr sz="2000"/>
            </a:lvl4pPr>
            <a:lvl5pPr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9" name="Table Placeholder 2"/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21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b="0" dirty="0"/>
              <a:t>Bottom-Up Parsing</a:t>
            </a:r>
            <a:endParaRPr lang="en-US" b="0" dirty="0"/>
          </a:p>
        </p:txBody>
      </p:sp>
      <p:sp>
        <p:nvSpPr>
          <p:cNvPr id="3" name="Title 1"/>
          <p:cNvSpPr txBox="1"/>
          <p:nvPr/>
        </p:nvSpPr>
        <p:spPr>
          <a:xfrm>
            <a:off x="6309925" y="4388521"/>
            <a:ext cx="3874003" cy="88750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US" sz="2000" b="0" dirty="0"/>
            </a:br>
            <a:r>
              <a:rPr lang="en-US" sz="2000" b="0" dirty="0"/>
              <a:t>Hiwot Belay Mekonnen</a:t>
            </a:r>
            <a:br>
              <a:rPr lang="en-US" sz="2000" b="0" dirty="0"/>
            </a:br>
            <a:r>
              <a:rPr lang="en-US" sz="2000" b="0" dirty="0"/>
              <a:t>BDU1506583</a:t>
            </a:r>
            <a:br>
              <a:rPr lang="en-US" sz="2000" b="0" dirty="0"/>
            </a:br>
            <a:r>
              <a:rPr lang="en-US" sz="2000" b="0" dirty="0"/>
              <a:t>Principles of Compiler Design</a:t>
            </a:r>
            <a:endParaRPr 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>
          <a:xfrm>
            <a:off x="593957" y="2200556"/>
            <a:ext cx="6788150" cy="3709987"/>
          </a:xfrm>
        </p:spPr>
        <p:txBody>
          <a:bodyPr tIns="457200">
            <a:normAutofit fontScale="92500" lnSpcReduction="20000"/>
          </a:bodyPr>
          <a:lstStyle/>
          <a:p>
            <a:r>
              <a:rPr lang="en-US" dirty="0"/>
              <a:t>Introduction</a:t>
            </a:r>
            <a:endParaRPr lang="en-US" dirty="0"/>
          </a:p>
          <a:p>
            <a:r>
              <a:rPr lang="en-US" dirty="0"/>
              <a:t>Definition and Concept</a:t>
            </a:r>
            <a:endParaRPr lang="en-US" dirty="0"/>
          </a:p>
          <a:p>
            <a:r>
              <a:rPr lang="en-US" dirty="0"/>
              <a:t>The Process</a:t>
            </a:r>
            <a:endParaRPr lang="en-US" dirty="0"/>
          </a:p>
          <a:p>
            <a:r>
              <a:rPr lang="en-US" dirty="0"/>
              <a:t>Different Approaches</a:t>
            </a:r>
            <a:endParaRPr lang="en-US" dirty="0"/>
          </a:p>
          <a:p>
            <a:r>
              <a:rPr lang="en-US" dirty="0"/>
              <a:t>Pros and cons</a:t>
            </a:r>
            <a:endParaRPr lang="en-US" dirty="0"/>
          </a:p>
          <a:p>
            <a:r>
              <a:rPr lang="en-US" dirty="0"/>
              <a:t>Conclusion</a:t>
            </a:r>
            <a:endParaRPr lang="en-US" dirty="0"/>
          </a:p>
          <a:p>
            <a:r>
              <a:rPr lang="en-US" dirty="0"/>
              <a:t>References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/>
          <a:lstStyle/>
          <a:p>
            <a:r>
              <a:rPr lang="en-US" dirty="0"/>
              <a:t>Overcoming nervousness</a:t>
            </a:r>
            <a:endParaRPr lang="en-US" dirty="0"/>
          </a:p>
        </p:txBody>
      </p:sp>
      <p:pic>
        <p:nvPicPr>
          <p:cNvPr id="12" name="Picture Placeholder 4" descr="A close-up of a wood grain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1113"/>
            <a:ext cx="5791200" cy="6880226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/>
          <a:lstStyle/>
          <a:p>
            <a:r>
              <a:rPr lang="en-US" dirty="0"/>
              <a:t>Confidence-building strategies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653155"/>
          </a:xfrm>
          <a:prstGeom prst="rect">
            <a:avLst/>
          </a:prstGeom>
        </p:spPr>
      </p:pic>
      <p:pic>
        <p:nvPicPr>
          <p:cNvPr id="5" name="Picture 4" descr="bootom-up-1-660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53155"/>
            <a:ext cx="12192635" cy="3216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Introduction </a:t>
            </a:r>
            <a:r>
              <a:rPr lang="en-US" altLang="en-US" dirty="0"/>
              <a:t>- What is Parsing? 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2959100" y="2512695"/>
            <a:ext cx="8659495" cy="37001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dirty="0"/>
              <a:t>Before we talk about bottom-up parsing, let's understand what parsing means.</a:t>
            </a:r>
            <a:endParaRPr lang="en-US" altLang="en-US" dirty="0"/>
          </a:p>
          <a:p>
            <a:pPr algn="just"/>
            <a:r>
              <a:rPr lang="en-US" altLang="en-US" dirty="0"/>
              <a:t>Parsing is the process of analyzing a string of tokens to determine its grammatical structure according to a given grammar. </a:t>
            </a:r>
            <a:endParaRPr lang="en-US" altLang="en-US" dirty="0"/>
          </a:p>
          <a:p>
            <a:pPr algn="just"/>
            <a:r>
              <a:rPr lang="en-US" altLang="en-US" dirty="0"/>
              <a:t>There are two main approaches:</a:t>
            </a:r>
            <a:endParaRPr lang="en-US" altLang="en-US" dirty="0"/>
          </a:p>
          <a:p>
            <a:pPr marL="457200" indent="-457200" algn="just">
              <a:buAutoNum type="arabicPeriod"/>
            </a:pPr>
            <a:r>
              <a:rPr lang="en-US" altLang="en-US" dirty="0"/>
              <a:t>Top-down parsing - starts from the start symbol and works down</a:t>
            </a:r>
            <a:endParaRPr lang="en-US" altLang="en-US" dirty="0"/>
          </a:p>
          <a:p>
            <a:pPr marL="457200" indent="-457200" algn="just">
              <a:buAutoNum type="arabicPeriod"/>
            </a:pPr>
            <a:r>
              <a:rPr lang="en-US" altLang="en-US" dirty="0"/>
              <a:t>Bottom-up parsing - starts from the input tokens and works up</a:t>
            </a:r>
            <a:endParaRPr lang="en-US" altLang="en-US" dirty="0"/>
          </a:p>
          <a:p>
            <a:pPr marL="0" indent="0" algn="just">
              <a:buNone/>
            </a:pPr>
            <a:endParaRPr lang="en-US" alt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b="0" dirty="0">
                <a:sym typeface="+mn-ea"/>
              </a:rPr>
              <a:t>Bottom-Up Parsing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2959100" y="2397125"/>
            <a:ext cx="8659495" cy="3700145"/>
          </a:xfrm>
        </p:spPr>
        <p:txBody>
          <a:bodyPr>
            <a:noAutofit/>
          </a:bodyPr>
          <a:lstStyle/>
          <a:p>
            <a:pPr algn="just"/>
            <a:r>
              <a:rPr lang="en-US" altLang="en-US" dirty="0"/>
              <a:t>Bottom-up parsing is a parsing technique that builds the parse tree from the leaves (bottom) to the root (top).</a:t>
            </a:r>
            <a:endParaRPr lang="en-US" altLang="en-US" dirty="0"/>
          </a:p>
          <a:p>
            <a:pPr algn="just"/>
            <a:r>
              <a:rPr lang="en-US" altLang="en-US" dirty="0"/>
              <a:t>Instead of starting with the grammar's start symbol, it: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1. Starts with the actual input tokens (the leaves)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2. Tries to match them with grammar rules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3. Builds up to the start symbol (the root)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The name "bottom-up" comes from building the parse tree from the bottom (input tokens) upward to the top (start symbol).</a:t>
            </a:r>
            <a:endParaRPr lang="en-US" altLang="en-US" dirty="0"/>
          </a:p>
          <a:p>
            <a:pPr marL="0" indent="0" algn="just">
              <a:buNone/>
            </a:pPr>
            <a:endParaRPr lang="en-US" alt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altLang="en-US" dirty="0"/>
              <a:t>How Bottom-Up Parsing Works?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>
            <a:normAutofit lnSpcReduction="20000"/>
          </a:bodyPr>
          <a:lstStyle/>
          <a:p>
            <a:r>
              <a:rPr lang="en-US" altLang="en-US" dirty="0"/>
              <a:t>The basic idea is simple:</a:t>
            </a:r>
            <a:endParaRPr lang="en-US" altLang="en-US" dirty="0"/>
          </a:p>
          <a:p>
            <a:r>
              <a:rPr lang="en-US" altLang="en-US" dirty="0"/>
              <a:t>1. Read tokens from the input one by one</a:t>
            </a:r>
            <a:endParaRPr lang="en-US" altLang="en-US" dirty="0"/>
          </a:p>
          <a:p>
            <a:r>
              <a:rPr lang="en-US" altLang="en-US" dirty="0"/>
              <a:t>2. Look for patterns that match the right-hand side of grammar rules</a:t>
            </a:r>
            <a:endParaRPr lang="en-US" altLang="en-US" dirty="0"/>
          </a:p>
          <a:p>
            <a:r>
              <a:rPr lang="en-US" altLang="en-US" dirty="0"/>
              <a:t>3. Reduce those patterns to the left-hand side non-terminal</a:t>
            </a:r>
            <a:endParaRPr lang="en-US" altLang="en-US" dirty="0"/>
          </a:p>
          <a:p>
            <a:r>
              <a:rPr lang="en-US" altLang="en-US" dirty="0"/>
              <a:t>4. Repeat until you reach the start symbol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>
            <a:normAutofit lnSpcReduction="20000"/>
          </a:bodyPr>
          <a:lstStyle/>
          <a:p>
            <a:r>
              <a:rPr lang="en-US" altLang="en-US" dirty="0"/>
              <a:t>This is also called </a:t>
            </a:r>
            <a:r>
              <a:rPr lang="en-US" altLang="en-US" b="1" dirty="0"/>
              <a:t>shift-reduce parsing</a:t>
            </a:r>
            <a:r>
              <a:rPr lang="en-US" altLang="en-US" dirty="0"/>
              <a:t> because you: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Shift: move tokens onto a stack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Reduce: replace a pattern on the stack with a non-terminal</a:t>
            </a:r>
            <a:endParaRPr lang="en-US" altLang="en-US" dirty="0"/>
          </a:p>
          <a:p>
            <a:r>
              <a:rPr lang="en-US" altLang="en-US" dirty="0"/>
              <a:t>If you successfully reduce everything to the start symbol, the input is valid. If you can't, there's a syntax error.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altLang="en-US" dirty="0"/>
              <a:t>Example - Simple Grammar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>
            <a:noAutofit/>
          </a:bodyPr>
          <a:lstStyle/>
          <a:p>
            <a:r>
              <a:rPr lang="en-US" altLang="en-US" dirty="0"/>
              <a:t>Let's see a simple example. Consider this grammar:</a:t>
            </a:r>
            <a:endParaRPr lang="en-US" altLang="en-US" dirty="0"/>
          </a:p>
          <a:p>
            <a:r>
              <a:rPr lang="en-US" altLang="en-US" dirty="0"/>
              <a:t>E → E + T | T</a:t>
            </a:r>
            <a:endParaRPr lang="en-US" altLang="en-US" dirty="0"/>
          </a:p>
          <a:p>
            <a:r>
              <a:rPr lang="en-US" altLang="en-US" dirty="0"/>
              <a:t>T → T * F | F</a:t>
            </a:r>
            <a:endParaRPr lang="en-US" altLang="en-US" dirty="0"/>
          </a:p>
          <a:p>
            <a:r>
              <a:rPr lang="en-US" altLang="en-US" dirty="0"/>
              <a:t>F → id</a:t>
            </a:r>
            <a:endParaRPr lang="en-US" altLang="en-US" dirty="0"/>
          </a:p>
          <a:p>
            <a:r>
              <a:rPr lang="en-US" altLang="en-US" dirty="0"/>
              <a:t>And the input: id + id * id</a:t>
            </a:r>
            <a:endParaRPr lang="en-US" altLang="en-US" dirty="0"/>
          </a:p>
        </p:txBody>
      </p:sp>
      <p:pic>
        <p:nvPicPr>
          <p:cNvPr id="5" name="Content Placeholder 4" descr="task_01kefepztye8a9ktnznyw2wz85_1767897849_img_1"/>
          <p:cNvPicPr>
            <a:picLocks noChangeAspect="1"/>
          </p:cNvPicPr>
          <p:nvPr>
            <p:ph sz="quarter" idx="16"/>
          </p:nvPr>
        </p:nvPicPr>
        <p:blipFill>
          <a:blip r:embed="rId1"/>
          <a:stretch>
            <a:fillRect/>
          </a:stretch>
        </p:blipFill>
        <p:spPr>
          <a:xfrm>
            <a:off x="5306060" y="1934210"/>
            <a:ext cx="5815965" cy="4339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altLang="en-US" dirty="0"/>
              <a:t>Types of Bottom-Up Parsing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03885" y="457201"/>
            <a:ext cx="5198269" cy="23050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dirty="0"/>
              <a:t>1. LR Parsers (Left-to-right, Rightmost derivation)</a:t>
            </a:r>
            <a:endParaRPr lang="en-US" alt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/>
              <a:t>Most common type, Reads input from left to right,Uses a parse table to decide actions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2. Operator Precedence Parsing</a:t>
            </a:r>
            <a:endParaRPr lang="en-US" alt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/>
              <a:t>Used for expressions, Based on operator precedence, Simpler but less powerful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603885" y="3659590"/>
            <a:ext cx="5198269" cy="3319513"/>
          </a:xfrm>
        </p:spPr>
        <p:txBody>
          <a:bodyPr>
            <a:normAutofit lnSpcReduction="20000"/>
          </a:bodyPr>
          <a:lstStyle/>
          <a:p>
            <a:pPr algn="just"/>
            <a:r>
              <a:rPr lang="en-US" altLang="en-US" dirty="0"/>
              <a:t>3. Shift-Reduce Parsing</a:t>
            </a:r>
            <a:endParaRPr lang="en-US" alt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dirty="0"/>
              <a:t>General technique, Uses a stack and input buffer, Makes shift or reduce decisions</a:t>
            </a:r>
            <a:endParaRPr lang="en-US" altLang="en-US" dirty="0"/>
          </a:p>
          <a:p>
            <a:pPr algn="just"/>
            <a:r>
              <a:rPr lang="en-US" altLang="en-US" dirty="0"/>
              <a:t>The most important one is </a:t>
            </a:r>
            <a:r>
              <a:rPr lang="en-US" altLang="en-US" b="1" dirty="0"/>
              <a:t>LR parsing</a:t>
            </a:r>
            <a:r>
              <a:rPr lang="en-US" altLang="en-US" dirty="0"/>
              <a:t>, which is what most real compilers use.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b="0" dirty="0">
                <a:sym typeface="+mn-ea"/>
              </a:rPr>
              <a:t>Pros and Cons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2505710" y="2474595"/>
            <a:ext cx="4011295" cy="37001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dirty="0"/>
              <a:t>Advantages of Bottom-Up Parsing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1. More Powerful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2. Efficient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3. Widely Used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4. Better Error Handling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5. Handles Ambiguity</a:t>
            </a:r>
            <a:endParaRPr lang="en-US" alt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 Placeholder 6"/>
          <p:cNvSpPr>
            <a:spLocks noGrp="1"/>
          </p:cNvSpPr>
          <p:nvPr/>
        </p:nvSpPr>
        <p:spPr>
          <a:xfrm>
            <a:off x="6805295" y="2474595"/>
            <a:ext cx="4966970" cy="370014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21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dirty="0"/>
              <a:t>Disadvantages and Limitations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1. Complex to Implement Manually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2. Grammar Requirements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3. Less Intuitive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4. Tool Dependency</a:t>
            </a:r>
            <a:endParaRPr lang="en-US" altLang="en-US" dirty="0"/>
          </a:p>
          <a:p>
            <a:pPr algn="just"/>
            <a:r>
              <a:rPr lang="en-US" altLang="en-US" dirty="0"/>
              <a:t>Despite these limitations, the advantages make it the preferred choice for most compilers.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altLang="en-US" dirty="0"/>
              <a:t>Bottom-Up vs Top-Down Parsing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2631440" y="2329815"/>
            <a:ext cx="4011295" cy="37001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dirty="0"/>
              <a:t>Bottom-Up Parsing:</a:t>
            </a:r>
            <a:endParaRPr lang="en-US" altLang="en-US" dirty="0"/>
          </a:p>
          <a:p>
            <a:pPr algn="just"/>
            <a:r>
              <a:rPr lang="en-US" altLang="en-US" dirty="0"/>
              <a:t>Starts from input tokens</a:t>
            </a:r>
            <a:endParaRPr lang="en-US" altLang="en-US" dirty="0"/>
          </a:p>
          <a:p>
            <a:pPr algn="just"/>
            <a:r>
              <a:rPr lang="en-US" altLang="en-US" dirty="0"/>
              <a:t>Builds tree from leaves to root</a:t>
            </a:r>
            <a:endParaRPr lang="en-US" altLang="en-US" dirty="0"/>
          </a:p>
          <a:p>
            <a:pPr algn="just"/>
            <a:r>
              <a:rPr lang="en-US" altLang="en-US" dirty="0"/>
              <a:t>More powerful - can handle more grammars</a:t>
            </a:r>
            <a:endParaRPr lang="en-US" altLang="en-US" dirty="0"/>
          </a:p>
          <a:p>
            <a:pPr algn="just"/>
            <a:r>
              <a:rPr lang="en-US" altLang="en-US" dirty="0"/>
              <a:t>Used by most production compilers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Examples: LR, LALR parsers</a:t>
            </a:r>
            <a:endParaRPr lang="en-US" alt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 Placeholder 6"/>
          <p:cNvSpPr>
            <a:spLocks noGrp="1"/>
          </p:cNvSpPr>
          <p:nvPr/>
        </p:nvSpPr>
        <p:spPr>
          <a:xfrm>
            <a:off x="7152640" y="2329815"/>
            <a:ext cx="4966970" cy="231203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21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dirty="0"/>
              <a:t>Top-Down Parsing:</a:t>
            </a:r>
            <a:endParaRPr lang="en-US" altLang="en-US" dirty="0"/>
          </a:p>
          <a:p>
            <a:pPr algn="just"/>
            <a:r>
              <a:rPr lang="en-US" altLang="en-US" dirty="0"/>
              <a:t>Starts from start symbol</a:t>
            </a:r>
            <a:endParaRPr lang="en-US" altLang="en-US" dirty="0"/>
          </a:p>
          <a:p>
            <a:pPr algn="just"/>
            <a:r>
              <a:rPr lang="en-US" altLang="en-US" dirty="0"/>
              <a:t>Builds tree from root to leaves</a:t>
            </a:r>
            <a:endParaRPr lang="en-US" altLang="en-US" dirty="0"/>
          </a:p>
          <a:p>
            <a:pPr algn="just"/>
            <a:r>
              <a:rPr lang="en-US" altLang="en-US" dirty="0"/>
              <a:t>Simpler to understand</a:t>
            </a:r>
            <a:endParaRPr lang="en-US" altLang="en-US" dirty="0"/>
          </a:p>
          <a:p>
            <a:pPr algn="just"/>
            <a:r>
              <a:rPr lang="en-US" altLang="en-US" dirty="0"/>
              <a:t>Limited to LL grammars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Examples: Recursive descent, LL parsers</a:t>
            </a:r>
            <a:endParaRPr lang="en-US" altLang="en-US" dirty="0"/>
          </a:p>
        </p:txBody>
      </p:sp>
      <p:sp>
        <p:nvSpPr>
          <p:cNvPr id="4" name="Text Placeholder 6"/>
          <p:cNvSpPr>
            <a:spLocks noGrp="1"/>
          </p:cNvSpPr>
          <p:nvPr/>
        </p:nvSpPr>
        <p:spPr>
          <a:xfrm>
            <a:off x="6221730" y="5368290"/>
            <a:ext cx="5372100" cy="2312035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21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b="1" dirty="0"/>
              <a:t>Why bottom-up is preferred</a:t>
            </a:r>
            <a:r>
              <a:rPr lang="en-US" altLang="en-US" dirty="0"/>
              <a:t>: Can handle left-recursive grammars (top-down can't), More efficient for large languages, Better error recovery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altLang="en-US" dirty="0"/>
              <a:t>Real-World Application - Yacc/Bison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1975485" y="2329815"/>
            <a:ext cx="5441950" cy="370014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dirty="0"/>
              <a:t>Yacc (Yet Another Compiler Compiler) and Bison are parser generators that use bottom-up parsing.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How they work: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1. You write a grammar file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2. Yacc/Bison generates a parser (usually LALR)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3. The parser can be used in your compiler</a:t>
            </a:r>
            <a:endParaRPr lang="en-US" altLang="en-US" dirty="0"/>
          </a:p>
          <a:p>
            <a:pPr marL="0" indent="0" algn="just">
              <a:buNone/>
            </a:pPr>
            <a:endParaRPr lang="en-US" alt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 Placeholder 6"/>
          <p:cNvSpPr>
            <a:spLocks noGrp="1"/>
          </p:cNvSpPr>
          <p:nvPr/>
        </p:nvSpPr>
        <p:spPr>
          <a:xfrm>
            <a:off x="7712075" y="2329815"/>
            <a:ext cx="4050665" cy="3893820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21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21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7898130" y="2111375"/>
            <a:ext cx="4064000" cy="399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6" name="Picture 5" descr="20260108_2150_Image Generation_simple_compose_01keff1vajens9a2jjq8s2n14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075" y="2111375"/>
            <a:ext cx="3923665" cy="4586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altLang="en-US" dirty="0"/>
              <a:t>Case Study - How Compilers Use It</a:t>
            </a:r>
            <a:endParaRPr lang="en-US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2837815" y="2329815"/>
            <a:ext cx="9354185" cy="37769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dirty="0"/>
              <a:t>Let's look at how a real compiler uses bottom-up parsing: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Example: C Compiler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1. Lexical Analysis: Converts source code to tokens</a:t>
            </a:r>
            <a:endParaRPr lang="en-US" altLang="en-US" dirty="0"/>
          </a:p>
          <a:p>
            <a:pPr algn="just"/>
            <a:r>
              <a:rPr lang="en-US" altLang="en-US" dirty="0"/>
              <a:t>int x = 5; becomes: INT ID ASSIGN NUMBER SEMICOLON`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2. Syntax Analysis (Bottom-Up Parser):</a:t>
            </a:r>
            <a:endParaRPr lang="en-US" altLang="en-US" dirty="0"/>
          </a:p>
          <a:p>
            <a:pPr algn="just"/>
            <a:r>
              <a:rPr lang="en-US" altLang="en-US" dirty="0"/>
              <a:t>Uses LR/LALR parser, Checks if tokens form valid C syntax, Builds parse tree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3. Semantic Analysis: Checks meaning</a:t>
            </a: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4. Code Generation: Produces machine code</a:t>
            </a:r>
            <a:endParaRPr lang="en-US" altLang="en-US" dirty="0"/>
          </a:p>
          <a:p>
            <a:pPr marL="0" indent="0" algn="just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Speaking 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</a:t>
            </a:r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5" descr="20260108_2110_Image Generation_simple_compose_01kefcrz0tfm9sxzgsmcw9ypcc"/>
          <p:cNvPicPr>
            <a:picLocks noChangeAspect="1"/>
          </p:cNvPicPr>
          <p:nvPr>
            <p:ph type="pic" sz="quarter" idx="15"/>
          </p:nvPr>
        </p:nvPicPr>
        <p:blipFill>
          <a:blip r:embed="rId1"/>
          <a:stretch>
            <a:fillRect/>
          </a:stretch>
        </p:blipFill>
        <p:spPr>
          <a:xfrm>
            <a:off x="0" y="-375285"/>
            <a:ext cx="12192000" cy="81394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altLang="en-US" dirty="0"/>
              <a:t>Conclusion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94360" y="2541270"/>
            <a:ext cx="10473055" cy="3597275"/>
          </a:xfrm>
        </p:spPr>
        <p:txBody>
          <a:bodyPr>
            <a:noAutofit/>
          </a:bodyPr>
          <a:lstStyle/>
          <a:p>
            <a:r>
              <a:rPr lang="en-US" altLang="en-US" dirty="0"/>
              <a:t>Bottom-up parsing is a fundamental technique in compiler design. It's the method most real-world compilers use because it's powerful, efficient, and can handle complex grammars.</a:t>
            </a:r>
            <a:endParaRPr lang="en-US" altLang="en-US" dirty="0"/>
          </a:p>
          <a:p>
            <a:r>
              <a:rPr lang="en-US" altLang="en-US" dirty="0"/>
              <a:t>Understanding bottom-up parsing helps us appreciate: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How compilers work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Why certain syntax rules exist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How parser generators like Bison function</a:t>
            </a:r>
            <a:endParaRPr lang="en-US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The importance of grammar design</a:t>
            </a:r>
            <a:endParaRPr lang="en-US" altLang="en-US" dirty="0"/>
          </a:p>
          <a:p>
            <a:r>
              <a:rPr lang="en-US" altLang="en-US" dirty="0"/>
              <a:t>While it may seem complex, tools like Bison make it accessible, and understanding the concept helps in writing better compilers and understanding language design.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altLang="en-US" dirty="0"/>
              <a:t>References</a:t>
            </a:r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/>
          </p:nvPr>
        </p:nvSpPr>
        <p:spPr>
          <a:xfrm>
            <a:off x="594360" y="2705100"/>
            <a:ext cx="10581005" cy="2994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/>
              <a:t>1. Aho, A. V., Lam, M. S., Sethi, R., &amp; Ullman, J. D. (2006). _Compilers: Principles, Techniques, and Tools_ (2nd ed.). Pearson Education. (The "Dragon Book")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2. Cooper, K. D., &amp; Torczon, L. (2011). _Engineering a Compiler_ (2nd ed.). Morgan Kaufmann.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3. Levine, J. R. (2009). _flex &amp; bison: Text Processing Tools_. O'Reilly Media.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4. Wikipedia Contributors. (2023). "LR parser." Wikipedia, The Free Encyclopedia. https://en.wikipedia.org/wiki/LR_parser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5. GeeksforGeeks. (2023). "Bottom-up or Shift Reduce Parsers." https://www.geeksforgeeks.org/bottom-up-or-shift-reduce-parsers-set-2/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/>
</ds:datastoreItem>
</file>

<file path=customXml/itemProps2.xml><?xml version="1.0" encoding="utf-8"?>
<ds:datastoreItem xmlns:ds="http://schemas.openxmlformats.org/officeDocument/2006/customXml" ds:itemID="{92DB9E12-8AC3-4138-BF4D-720A5525AB10}">
  <ds:schemaRefs/>
</ds:datastoreItem>
</file>

<file path=customXml/itemProps3.xml><?xml version="1.0" encoding="utf-8"?>
<ds:datastoreItem xmlns:ds="http://schemas.openxmlformats.org/officeDocument/2006/customXml" ds:itemID="{4F4B194E-8B30-4377-8C59-ECFB902D2A2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0</TotalTime>
  <Words>5026</Words>
  <Application>WPS Presentation</Application>
  <PresentationFormat>Widescreen</PresentationFormat>
  <Paragraphs>151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Franklin Gothic Demi</vt:lpstr>
      <vt:lpstr>Microsoft YaHei</vt:lpstr>
      <vt:lpstr>Arial Unicode MS</vt:lpstr>
      <vt:lpstr>Franklin Gothic Book</vt:lpstr>
      <vt:lpstr>Calibri</vt:lpstr>
      <vt:lpstr>Custom</vt:lpstr>
      <vt:lpstr>Bottom-Up Parsing?</vt:lpstr>
      <vt:lpstr>Agenda</vt:lpstr>
      <vt:lpstr>Overcoming nervousness</vt:lpstr>
      <vt:lpstr>Engaging the audience</vt:lpstr>
      <vt:lpstr>Introduction - What is Parsing? </vt:lpstr>
      <vt:lpstr>Effective delivery techniques</vt:lpstr>
      <vt:lpstr>How Bottom-Up Parsing Works?</vt:lpstr>
      <vt:lpstr>Navigating Q&amp;A sessions</vt:lpstr>
      <vt:lpstr>Bottom-Up Parsing</vt:lpstr>
      <vt:lpstr>Pros and Cons</vt:lpstr>
      <vt:lpstr>Bottom-Up vs Top-Down Parsing</vt:lpstr>
      <vt:lpstr>Pros and Cons</vt:lpstr>
      <vt:lpstr>Speaking impact</vt:lpstr>
      <vt:lpstr>Final tips &amp; takeaways</vt:lpstr>
      <vt:lpstr>Speaking engagement metrics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hiwot belay</dc:creator>
  <cp:lastModifiedBy>Hiwot Belay</cp:lastModifiedBy>
  <cp:revision>3</cp:revision>
  <dcterms:created xsi:type="dcterms:W3CDTF">2026-01-08T12:51:00Z</dcterms:created>
  <dcterms:modified xsi:type="dcterms:W3CDTF">2026-01-08T18:56:15Z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11E2AB9473DA4BB5BD46AAAE808C92B1_13</vt:lpwstr>
  </property>
  <property fmtid="{D5CDD505-2E9C-101B-9397-08002B2CF9AE}" pid="4" name="KSOProductBuildVer">
    <vt:lpwstr>1033-12.2.0.23196</vt:lpwstr>
  </property>
</Properties>
</file>